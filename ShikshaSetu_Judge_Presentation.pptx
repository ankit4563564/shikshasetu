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(15s):</a:t>
            </a:r>
          </a:p>
          <a:p>
            <a:r>
              <a:t>Good morning judges. Traditional school ERPs are great at digitizing school records, but they stop at dashboards. ShikshaSetu is built on a fundamentally different principle: turning everyday school information into coordinated next actions for teachers, students, and parents around one learner.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(30s):</a:t>
            </a:r>
          </a:p>
          <a:p>
            <a:r>
              <a:t>Schools generate huge amounts of data: attendance, marks, homework, and behavior logs. But the data remains trapped in administrative silos. The teacher struggles to know who needs attention right now, the student doesn't know what to study next, and the parent doesn't know how to support at home.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(25s):</a:t>
            </a:r>
          </a:p>
          <a:p>
            <a:r>
              <a:t>Traditional ERPs stop at 'What happened?'. ShikshaSetu asks: 'Why does it matter?' and 'What should happen next?'. When a mark or attendance record is entered, our rules engine and contextual layer immediately generate role-specific actions for the teacher, student, and parent.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(20s):</a:t>
            </a:r>
          </a:p>
          <a:p>
            <a:r>
              <a:t>Our architecture enforces strict canonical single-source-of-truth. We never duplicate records. Data is stored in normalized Supabase PostgreSQL with Row Level Security, and each portal views the same data customized for their role.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(30s):</a:t>
            </a:r>
          </a:p>
          <a:p>
            <a:r>
              <a:t>Let's look at a concrete example from our codebase: Aarav Sharma in Class 8A. When his 58% score in Equivalent Fractions is recorded, Ms. Ananya gets a teaching recommendation, Aarav gets a 5-minute revision quiz on that exact gap, and his mother Sunita gets a practical question to ask at dinner.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(20s):</a:t>
            </a:r>
          </a:p>
          <a:p>
            <a:r>
              <a:t>This creates a closed learning loop: Observe, Understand, Act, Learn, Check, and Reinforce. The school and family operate as a single coordinated support team around the student.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(25s):</a:t>
            </a:r>
          </a:p>
          <a:p>
            <a:r>
              <a:t>Judges often ask: 'Isn't this just ChatGPT inside an ERP?'. The answer is no. AI in ShikshaSetu is strictly grounded in verified school context: syllabus benchmarks, actual student marks, and role boundaries. It never sees unauthorized data and never fabricates scores.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(20s):</a:t>
            </a:r>
          </a:p>
          <a:p>
            <a:r>
              <a:t>Who creates the data? Real stakeholders at the source. Teachers enter marks, admins manage classes, drivers stream GPS, and parents request gate passes. AI does not invent facts; it turns these verified human inputs into coordinated 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(25s):</a:t>
            </a:r>
          </a:p>
          <a:p>
            <a:r>
              <a:t>Across 6 functional portals, we have built a complete learning and operations ecosystem: student command center, teacher radar, parent companion, driver GPS console, gate pass verification, and admin master registry.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(15s):</a:t>
            </a:r>
          </a:p>
          <a:p>
            <a:r>
              <a:t>Now, let's switch directly to the live application and follow Aarav Sharma through the Teacher, Student, Parent, and Driver portals.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(20s):</a:t>
            </a:r>
          </a:p>
          <a:p>
            <a:r>
              <a:t>Our live bus tracking uses actual browser hardware GPS from the driver's phone. Coordinates are written to PostgreSQL and broadcast via WebSockets directly to the parent's map.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(15s):</a:t>
            </a:r>
          </a:p>
          <a:p>
            <a:r>
              <a:t>In summary, ShikshaSetu connects school data into immediate action for every teacher, student, and parent.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Detailed stack specifications for technical jury inquiries.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Security and RLS architecture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4114800"/>
          </a:xfrm>
          <a:prstGeom prst="rect">
            <a:avLst/>
          </a:prstGeom>
          <a:noFill/>
        </p:spPr>
        <p:txBody>
          <a:bodyPr wrap="square">
            <a:spAutoFit/>
          </a:bodyPr>
          <a:lstStyle/>
          <a:p>
            <a:pPr>
              <a:spcAft>
                <a:spcPts val="1600"/>
              </a:spcAft>
              <a:defRPr sz="1400" b="1">
                <a:solidFill>
                  <a:srgbClr val="818CF8"/>
                </a:solidFill>
              </a:defRPr>
            </a:pPr>
            <a:r>
              <a:t>SHIKSHASETU  •  शिक्षासेतु</a:t>
            </a:r>
          </a:p>
          <a:p>
            <a:pPr>
              <a:spcAft>
                <a:spcPts val="2000"/>
              </a:spcAft>
              <a:defRPr sz="4000" b="1">
                <a:solidFill>
                  <a:srgbClr val="FFFFFF"/>
                </a:solidFill>
              </a:defRPr>
            </a:pPr>
            <a:r>
              <a:t>The School ERP That Actually</a:t>
            </a:r>
            <a:br/>
            <a:r>
              <a:t>Understands Learning.</a:t>
            </a:r>
          </a:p>
          <a:p>
            <a:pPr>
              <a:defRPr sz="1600">
                <a:solidFill>
                  <a:srgbClr val="94A3B8"/>
                </a:solidFill>
              </a:defRPr>
            </a:pPr>
            <a:r>
              <a:t>Connecting teachers, students, and parents around one learner.</a:t>
            </a:r>
            <a:br/>
            <a:r>
              <a:t>One canonical dataset. Three useful real-time experiences.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THE REAL-WORLD PROBLEM</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Schools Have Plenty of Data. But Data Doesn't Automatically Become Action.</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Schools generate millions of data points every term, yet information remains disconnected from daily action.</a:t>
            </a:r>
          </a:p>
        </p:txBody>
      </p:sp>
      <p:sp>
        <p:nvSpPr>
          <p:cNvPr id="5" name="Rounded Rectangle 4"/>
          <p:cNvSpPr/>
          <p:nvPr/>
        </p:nvSpPr>
        <p:spPr>
          <a:xfrm>
            <a:off x="731520" y="2011680"/>
            <a:ext cx="3328416"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2779776" cy="3566160"/>
          </a:xfrm>
          <a:prstGeom prst="rect">
            <a:avLst/>
          </a:prstGeom>
          <a:noFill/>
        </p:spPr>
        <p:txBody>
          <a:bodyPr wrap="square">
            <a:spAutoFit/>
          </a:bodyPr>
          <a:lstStyle/>
          <a:p>
            <a:pPr>
              <a:spcAft>
                <a:spcPts val="1200"/>
              </a:spcAft>
              <a:defRPr sz="1300" b="1">
                <a:solidFill>
                  <a:srgbClr val="4F46E5"/>
                </a:solidFill>
              </a:defRPr>
            </a:pPr>
            <a:r>
              <a:t>👨‍🏫 THE TEACHER</a:t>
            </a:r>
          </a:p>
          <a:p>
            <a:pPr>
              <a:spcAft>
                <a:spcPts val="1400"/>
              </a:spcAft>
              <a:defRPr sz="1700" b="1">
                <a:solidFill>
                  <a:srgbClr val="0F172A"/>
                </a:solidFill>
              </a:defRPr>
            </a:pPr>
            <a:r>
              <a:t>"Who needs my attention today?"</a:t>
            </a:r>
          </a:p>
          <a:p>
            <a:pPr>
              <a:defRPr sz="1200">
                <a:solidFill>
                  <a:srgbClr val="64748B"/>
                </a:solidFill>
              </a:defRPr>
            </a:pPr>
            <a:r>
              <a:t>Teachers manage 40+ students per class. Marks are entered into spreadsheets, but finding which 3 students are falling behind in a specific topic requires manual cross-referencing.</a:t>
            </a:r>
          </a:p>
        </p:txBody>
      </p:sp>
      <p:sp>
        <p:nvSpPr>
          <p:cNvPr id="7" name="Rounded Rectangle 6"/>
          <p:cNvSpPr/>
          <p:nvPr/>
        </p:nvSpPr>
        <p:spPr>
          <a:xfrm>
            <a:off x="4416552" y="2011680"/>
            <a:ext cx="3328416"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0872" y="2286000"/>
            <a:ext cx="2779776" cy="3566160"/>
          </a:xfrm>
          <a:prstGeom prst="rect">
            <a:avLst/>
          </a:prstGeom>
          <a:noFill/>
        </p:spPr>
        <p:txBody>
          <a:bodyPr wrap="square">
            <a:spAutoFit/>
          </a:bodyPr>
          <a:lstStyle/>
          <a:p>
            <a:pPr>
              <a:spcAft>
                <a:spcPts val="1200"/>
              </a:spcAft>
              <a:defRPr sz="1300" b="1">
                <a:solidFill>
                  <a:srgbClr val="0D9488"/>
                </a:solidFill>
              </a:defRPr>
            </a:pPr>
            <a:r>
              <a:t>🎓 THE STUDENT</a:t>
            </a:r>
          </a:p>
          <a:p>
            <a:pPr>
              <a:spcAft>
                <a:spcPts val="1400"/>
              </a:spcAft>
              <a:defRPr sz="1700" b="1">
                <a:solidFill>
                  <a:srgbClr val="0F172A"/>
                </a:solidFill>
              </a:defRPr>
            </a:pPr>
            <a:r>
              <a:t>"What should I study next?"</a:t>
            </a:r>
          </a:p>
          <a:p>
            <a:pPr>
              <a:defRPr sz="1200">
                <a:solidFill>
                  <a:srgbClr val="64748B"/>
                </a:solidFill>
              </a:defRPr>
            </a:pPr>
            <a:r>
              <a:t>Students see a raw score like 58% in Mathematics, but the portal doesn't explain the underlying gap (Equivalent Fractions) or give them a 5-minute practice loop.</a:t>
            </a:r>
          </a:p>
        </p:txBody>
      </p:sp>
      <p:sp>
        <p:nvSpPr>
          <p:cNvPr id="9" name="Rounded Rectangle 8"/>
          <p:cNvSpPr/>
          <p:nvPr/>
        </p:nvSpPr>
        <p:spPr>
          <a:xfrm>
            <a:off x="8101584" y="2011680"/>
            <a:ext cx="3328416"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75904" y="2286000"/>
            <a:ext cx="2779776" cy="3566160"/>
          </a:xfrm>
          <a:prstGeom prst="rect">
            <a:avLst/>
          </a:prstGeom>
          <a:noFill/>
        </p:spPr>
        <p:txBody>
          <a:bodyPr wrap="square">
            <a:spAutoFit/>
          </a:bodyPr>
          <a:lstStyle/>
          <a:p>
            <a:pPr>
              <a:spcAft>
                <a:spcPts val="1200"/>
              </a:spcAft>
              <a:defRPr sz="1300" b="1">
                <a:solidFill>
                  <a:srgbClr val="D97706"/>
                </a:solidFill>
              </a:defRPr>
            </a:pPr>
            <a:r>
              <a:t>🏡 THE PARENT</a:t>
            </a:r>
          </a:p>
          <a:p>
            <a:pPr>
              <a:spcAft>
                <a:spcPts val="1400"/>
              </a:spcAft>
              <a:defRPr sz="1700" b="1">
                <a:solidFill>
                  <a:srgbClr val="0F172A"/>
                </a:solidFill>
              </a:defRPr>
            </a:pPr>
            <a:r>
              <a:t>"How can I help my child?"</a:t>
            </a:r>
          </a:p>
          <a:p>
            <a:pPr>
              <a:defRPr sz="1200">
                <a:solidFill>
                  <a:srgbClr val="64748B"/>
                </a:solidFill>
              </a:defRPr>
            </a:pPr>
            <a:r>
              <a:t>Parents receive report cards months after exams. They don't know what questions to ask at dinner to reinforce what the teacher taught in class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PARADIGM SHIFT</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From Recording What Happened to Deciding What Happens Next</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We do not replace school data — we turn passive records into active, connected workflows.</a:t>
            </a:r>
          </a:p>
        </p:txBody>
      </p:sp>
      <p:sp>
        <p:nvSpPr>
          <p:cNvPr id="5" name="Rounded Rectangle 4"/>
          <p:cNvSpPr/>
          <p:nvPr/>
        </p:nvSpPr>
        <p:spPr>
          <a:xfrm>
            <a:off x="731520" y="2011680"/>
            <a:ext cx="512064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4572000" cy="3657600"/>
          </a:xfrm>
          <a:prstGeom prst="rect">
            <a:avLst/>
          </a:prstGeom>
          <a:noFill/>
        </p:spPr>
        <p:txBody>
          <a:bodyPr wrap="square">
            <a:spAutoFit/>
          </a:bodyPr>
          <a:lstStyle/>
          <a:p>
            <a:pPr>
              <a:spcAft>
                <a:spcPts val="1600"/>
              </a:spcAft>
              <a:defRPr sz="1300" b="1">
                <a:solidFill>
                  <a:srgbClr val="64748B"/>
                </a:solidFill>
              </a:defRPr>
            </a:pPr>
            <a:r>
              <a:t>TRADITIONAL SCHOOL ERP</a:t>
            </a:r>
          </a:p>
          <a:p>
            <a:pPr>
              <a:spcAft>
                <a:spcPts val="1000"/>
              </a:spcAft>
              <a:defRPr sz="1300">
                <a:solidFill>
                  <a:srgbClr val="64748B"/>
                </a:solidFill>
              </a:defRPr>
            </a:pPr>
            <a:r>
              <a:t>1. Attendance Taken → Logged into Database</a:t>
            </a:r>
          </a:p>
          <a:p>
            <a:pPr>
              <a:spcAft>
                <a:spcPts val="1000"/>
              </a:spcAft>
              <a:defRPr sz="1300">
                <a:solidFill>
                  <a:srgbClr val="64748B"/>
                </a:solidFill>
              </a:defRPr>
            </a:pPr>
            <a:r>
              <a:t>2. Marks Entered → Stored in Exam Table</a:t>
            </a:r>
          </a:p>
          <a:p>
            <a:pPr>
              <a:spcAft>
                <a:spcPts val="1000"/>
              </a:spcAft>
              <a:defRPr sz="1300">
                <a:solidFill>
                  <a:srgbClr val="64748B"/>
                </a:solidFill>
              </a:defRPr>
            </a:pPr>
            <a:r>
              <a:t>3. Homework Assigned → Saved in Portal</a:t>
            </a:r>
          </a:p>
          <a:p>
            <a:pPr>
              <a:spcAft>
                <a:spcPts val="1000"/>
              </a:spcAft>
              <a:defRPr sz="1300">
                <a:solidFill>
                  <a:srgbClr val="64748B"/>
                </a:solidFill>
              </a:defRPr>
            </a:pPr>
            <a:r>
              <a:t>4. End of Term → Generate PDF Summary</a:t>
            </a:r>
          </a:p>
          <a:p>
            <a:pPr>
              <a:defRPr sz="1300" b="1">
                <a:solidFill>
                  <a:srgbClr val="E11D48"/>
                </a:solidFill>
              </a:defRPr>
            </a:pPr>
            <a:r>
              <a:t>❌ Result: Passive archive of past events.</a:t>
            </a:r>
          </a:p>
        </p:txBody>
      </p:sp>
      <p:sp>
        <p:nvSpPr>
          <p:cNvPr id="7" name="Rounded Rectangle 6"/>
          <p:cNvSpPr/>
          <p:nvPr/>
        </p:nvSpPr>
        <p:spPr>
          <a:xfrm>
            <a:off x="6309360" y="2011680"/>
            <a:ext cx="5120640" cy="4114800"/>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286000"/>
            <a:ext cx="4572000" cy="3657600"/>
          </a:xfrm>
          <a:prstGeom prst="rect">
            <a:avLst/>
          </a:prstGeom>
          <a:noFill/>
        </p:spPr>
        <p:txBody>
          <a:bodyPr wrap="square">
            <a:spAutoFit/>
          </a:bodyPr>
          <a:lstStyle/>
          <a:p>
            <a:pPr>
              <a:spcAft>
                <a:spcPts val="1600"/>
              </a:spcAft>
              <a:defRPr sz="1300" b="1">
                <a:solidFill>
                  <a:srgbClr val="4F46E5"/>
                </a:solidFill>
              </a:defRPr>
            </a:pPr>
            <a:r>
              <a:t>SHIKSHASETU CONNECTED ECOSYSTEM</a:t>
            </a:r>
          </a:p>
          <a:p>
            <a:pPr>
              <a:spcAft>
                <a:spcPts val="1000"/>
              </a:spcAft>
              <a:defRPr sz="1300">
                <a:solidFill>
                  <a:srgbClr val="0F172A"/>
                </a:solidFill>
              </a:defRPr>
            </a:pPr>
            <a:r>
              <a:t>1. Teacher logs 58% in Equivalent Fractions</a:t>
            </a:r>
          </a:p>
          <a:p>
            <a:pPr>
              <a:spcAft>
                <a:spcPts val="1000"/>
              </a:spcAft>
              <a:defRPr sz="1300">
                <a:solidFill>
                  <a:srgbClr val="0F172A"/>
                </a:solidFill>
              </a:defRPr>
            </a:pPr>
            <a:r>
              <a:t>2. Teacher Radar: Suggests 10-min visual review</a:t>
            </a:r>
          </a:p>
          <a:p>
            <a:pPr>
              <a:spcAft>
                <a:spcPts val="1000"/>
              </a:spcAft>
              <a:defRPr sz="1300">
                <a:solidFill>
                  <a:srgbClr val="0F172A"/>
                </a:solidFill>
              </a:defRPr>
            </a:pPr>
            <a:r>
              <a:t>3. Student Portal: Prepares 5-min practice &amp; diagnostic quiz</a:t>
            </a:r>
          </a:p>
          <a:p>
            <a:pPr>
              <a:spcAft>
                <a:spcPts val="1000"/>
              </a:spcAft>
              <a:defRPr sz="1300">
                <a:solidFill>
                  <a:srgbClr val="0F172A"/>
                </a:solidFill>
              </a:defRPr>
            </a:pPr>
            <a:r>
              <a:t>4. Parent Portal: Generates practical dinner question prompt</a:t>
            </a:r>
          </a:p>
          <a:p>
            <a:pPr>
              <a:defRPr sz="1300" b="1">
                <a:solidFill>
                  <a:srgbClr val="10B981"/>
                </a:solidFill>
              </a:defRPr>
            </a:pPr>
            <a:r>
              <a:t>✓ Result: Continuous learning loop and coordinated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THE SINGLE SOURCE OF TRUTH</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One Student. One Connected Source of Truth. Three Useful Experiences.</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Data is entered once by teachers and administrators. Every portal reads the exact same canonical record.</a:t>
            </a:r>
          </a:p>
        </p:txBody>
      </p:sp>
      <p:sp>
        <p:nvSpPr>
          <p:cNvPr id="5" name="Rounded Rectangle 4"/>
          <p:cNvSpPr/>
          <p:nvPr/>
        </p:nvSpPr>
        <p:spPr>
          <a:xfrm>
            <a:off x="731520" y="2011680"/>
            <a:ext cx="106984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89120" y="2926080"/>
            <a:ext cx="3383280" cy="201168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3200400"/>
            <a:ext cx="3017520" cy="1463040"/>
          </a:xfrm>
          <a:prstGeom prst="rect">
            <a:avLst/>
          </a:prstGeom>
          <a:noFill/>
        </p:spPr>
        <p:txBody>
          <a:bodyPr wrap="square">
            <a:spAutoFit/>
          </a:bodyPr>
          <a:lstStyle/>
          <a:p>
            <a:pPr algn="ctr">
              <a:spcAft>
                <a:spcPts val="400"/>
              </a:spcAft>
              <a:defRPr sz="1200" b="1">
                <a:solidFill>
                  <a:srgbClr val="E0E7FF"/>
                </a:solidFill>
              </a:defRPr>
            </a:pPr>
            <a:r>
              <a:t>CANONICAL LEARNER</a:t>
            </a:r>
          </a:p>
          <a:p>
            <a:pPr algn="ctr">
              <a:defRPr sz="1600" b="1">
                <a:solidFill>
                  <a:srgbClr val="FFFFFF"/>
                </a:solidFill>
              </a:defRPr>
            </a:pPr>
            <a:r>
              <a:t>Aarav Sharma · 8A</a:t>
            </a:r>
            <a:br/>
            <a:r>
              <a:t>Math 58% (Fractions)</a:t>
            </a:r>
          </a:p>
        </p:txBody>
      </p:sp>
      <p:sp>
        <p:nvSpPr>
          <p:cNvPr id="8" name="Rounded Rectangle 7"/>
          <p:cNvSpPr/>
          <p:nvPr/>
        </p:nvSpPr>
        <p:spPr>
          <a:xfrm>
            <a:off x="1005840" y="2286000"/>
            <a:ext cx="30175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377440"/>
            <a:ext cx="2834640" cy="1280160"/>
          </a:xfrm>
          <a:prstGeom prst="rect">
            <a:avLst/>
          </a:prstGeom>
          <a:noFill/>
        </p:spPr>
        <p:txBody>
          <a:bodyPr wrap="square">
            <a:spAutoFit/>
          </a:bodyPr>
          <a:lstStyle/>
          <a:p>
            <a:pPr>
              <a:defRPr sz="1100" b="1">
                <a:solidFill>
                  <a:srgbClr val="4F46E5"/>
                </a:solidFill>
              </a:defRPr>
            </a:pPr>
            <a:r>
              <a:t>👩‍🏫 TEACHER WORKSPACE</a:t>
            </a:r>
          </a:p>
          <a:p>
            <a:pPr>
              <a:defRPr sz="1000">
                <a:solidFill>
                  <a:srgbClr val="0F172A"/>
                </a:solidFill>
              </a:defRPr>
            </a:pPr>
            <a:r>
              <a:t>• 3-Student Attention Radar</a:t>
            </a:r>
            <a:br/>
            <a:r>
              <a:t>• Instant Class Attendance</a:t>
            </a:r>
            <a:br/>
            <a:r>
              <a:t>• 1-Click CBSE Report Cards</a:t>
            </a:r>
          </a:p>
        </p:txBody>
      </p:sp>
      <p:sp>
        <p:nvSpPr>
          <p:cNvPr id="10" name="Rounded Rectangle 9"/>
          <p:cNvSpPr/>
          <p:nvPr/>
        </p:nvSpPr>
        <p:spPr>
          <a:xfrm>
            <a:off x="8138160" y="2286000"/>
            <a:ext cx="30175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377440"/>
            <a:ext cx="2834640" cy="1280160"/>
          </a:xfrm>
          <a:prstGeom prst="rect">
            <a:avLst/>
          </a:prstGeom>
          <a:noFill/>
        </p:spPr>
        <p:txBody>
          <a:bodyPr wrap="square">
            <a:spAutoFit/>
          </a:bodyPr>
          <a:lstStyle/>
          <a:p>
            <a:pPr>
              <a:defRPr sz="1100" b="1">
                <a:solidFill>
                  <a:srgbClr val="0D9488"/>
                </a:solidFill>
              </a:defRPr>
            </a:pPr>
            <a:r>
              <a:t>🎓 STUDENT COMMAND CENTER</a:t>
            </a:r>
          </a:p>
          <a:p>
            <a:pPr>
              <a:defRPr sz="1000">
                <a:solidFill>
                  <a:srgbClr val="0F172A"/>
                </a:solidFill>
              </a:defRPr>
            </a:pPr>
            <a:r>
              <a:t>• Today's Action Priorities</a:t>
            </a:r>
            <a:br/>
            <a:r>
              <a:t>• AI Diagnostic Revision Notes</a:t>
            </a:r>
            <a:br/>
            <a:r>
              <a:t>• SchoolMitra Homework Tutor</a:t>
            </a:r>
          </a:p>
        </p:txBody>
      </p:sp>
      <p:sp>
        <p:nvSpPr>
          <p:cNvPr id="12" name="Rounded Rectangle 11"/>
          <p:cNvSpPr/>
          <p:nvPr/>
        </p:nvSpPr>
        <p:spPr>
          <a:xfrm>
            <a:off x="8138160" y="4297680"/>
            <a:ext cx="30175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4389120"/>
            <a:ext cx="2834640" cy="1280160"/>
          </a:xfrm>
          <a:prstGeom prst="rect">
            <a:avLst/>
          </a:prstGeom>
          <a:noFill/>
        </p:spPr>
        <p:txBody>
          <a:bodyPr wrap="square">
            <a:spAutoFit/>
          </a:bodyPr>
          <a:lstStyle/>
          <a:p>
            <a:pPr>
              <a:defRPr sz="1100" b="1">
                <a:solidFill>
                  <a:srgbClr val="D97706"/>
                </a:solidFill>
              </a:defRPr>
            </a:pPr>
            <a:r>
              <a:t>🏡 PARENT COMPANION</a:t>
            </a:r>
          </a:p>
          <a:p>
            <a:pPr>
              <a:defRPr sz="1000">
                <a:solidFill>
                  <a:srgbClr val="0F172A"/>
                </a:solidFill>
              </a:defRPr>
            </a:pPr>
            <a:r>
              <a:t>• 3-Subject Progress Snapshot</a:t>
            </a:r>
            <a:br/>
            <a:r>
              <a:t>• 5-Min Home Dinner Prompts</a:t>
            </a:r>
            <a:br/>
            <a:r>
              <a:t>• Live GPS School Bus Marker</a:t>
            </a:r>
          </a:p>
        </p:txBody>
      </p:sp>
      <p:sp>
        <p:nvSpPr>
          <p:cNvPr id="14" name="Rounded Rectangle 13"/>
          <p:cNvSpPr/>
          <p:nvPr/>
        </p:nvSpPr>
        <p:spPr>
          <a:xfrm>
            <a:off x="1005840" y="4297680"/>
            <a:ext cx="30175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389120"/>
            <a:ext cx="2834640" cy="1280160"/>
          </a:xfrm>
          <a:prstGeom prst="rect">
            <a:avLst/>
          </a:prstGeom>
          <a:noFill/>
        </p:spPr>
        <p:txBody>
          <a:bodyPr wrap="square">
            <a:spAutoFit/>
          </a:bodyPr>
          <a:lstStyle/>
          <a:p>
            <a:pPr>
              <a:defRPr sz="1100" b="1">
                <a:solidFill>
                  <a:srgbClr val="0F172A"/>
                </a:solidFill>
              </a:defRPr>
            </a:pPr>
            <a:r>
              <a:t>🏛️ ADMIN &amp; OPERATIONS</a:t>
            </a:r>
          </a:p>
          <a:p>
            <a:pPr>
              <a:defRPr sz="1000">
                <a:solidFill>
                  <a:srgbClr val="0F172A"/>
                </a:solidFill>
              </a:defRPr>
            </a:pPr>
            <a:r>
              <a:t>• Operational Needs Queue</a:t>
            </a:r>
            <a:br/>
            <a:r>
              <a:t>• Master Registry CRUD</a:t>
            </a:r>
            <a:br/>
            <a:r>
              <a:t>• Fast Camera Gate QR 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REAL MVP DATA JOURNEY</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Same Data. Different Action.</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Tracing canonical student Aarav Sharma (Class 8A) across all three portals.</a:t>
            </a:r>
          </a:p>
        </p:txBody>
      </p:sp>
      <p:sp>
        <p:nvSpPr>
          <p:cNvPr id="5" name="Rounded Rectangle 4"/>
          <p:cNvSpPr/>
          <p:nvPr/>
        </p:nvSpPr>
        <p:spPr>
          <a:xfrm>
            <a:off x="731520" y="2011680"/>
            <a:ext cx="3108960" cy="4114800"/>
          </a:xfrm>
          <a:prstGeom prst="roundRect">
            <a:avLst/>
          </a:prstGeom>
          <a:solidFill>
            <a:srgbClr val="FEF2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86000"/>
            <a:ext cx="2743200" cy="3657600"/>
          </a:xfrm>
          <a:prstGeom prst="rect">
            <a:avLst/>
          </a:prstGeom>
          <a:noFill/>
        </p:spPr>
        <p:txBody>
          <a:bodyPr wrap="square">
            <a:spAutoFit/>
          </a:bodyPr>
          <a:lstStyle/>
          <a:p>
            <a:pPr>
              <a:spcAft>
                <a:spcPts val="1200"/>
              </a:spcAft>
              <a:defRPr sz="1100" b="1">
                <a:solidFill>
                  <a:srgbClr val="E11D48"/>
                </a:solidFill>
              </a:defRPr>
            </a:pPr>
            <a:r>
              <a:t>CANONICAL RECORD</a:t>
            </a:r>
          </a:p>
          <a:p>
            <a:pPr>
              <a:spcAft>
                <a:spcPts val="1600"/>
              </a:spcAft>
              <a:defRPr sz="1600" b="1">
                <a:solidFill>
                  <a:srgbClr val="0F172A"/>
                </a:solidFill>
              </a:defRPr>
            </a:pPr>
            <a:r>
              <a:t>Aarav Sharma</a:t>
            </a:r>
            <a:br/>
            <a:r>
              <a:t>Class 8A · Roll #801</a:t>
            </a:r>
          </a:p>
          <a:p>
            <a:pPr>
              <a:defRPr sz="1200" b="1">
                <a:solidFill>
                  <a:srgbClr val="0F172A"/>
                </a:solidFill>
              </a:defRPr>
            </a:pPr>
            <a:r>
              <a:t>📊 Math Score: 58%</a:t>
            </a:r>
            <a:br/>
            <a:r>
              <a:t>🔍 Gap: Equivalent Fractions</a:t>
            </a:r>
            <a:br/>
            <a:r>
              <a:t>🔬 Science Score: 82%</a:t>
            </a:r>
            <a:br/>
            <a:r>
              <a:t>📖 English Score: 76%</a:t>
            </a:r>
            <a:br/>
            <a:r>
              <a:t>📅 Attendance: 94%</a:t>
            </a:r>
          </a:p>
        </p:txBody>
      </p:sp>
      <p:sp>
        <p:nvSpPr>
          <p:cNvPr id="7" name="Rounded Rectangle 6"/>
          <p:cNvSpPr/>
          <p:nvPr/>
        </p:nvSpPr>
        <p:spPr>
          <a:xfrm>
            <a:off x="4114800" y="2011680"/>
            <a:ext cx="73152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2194560"/>
            <a:ext cx="6766560" cy="3749039"/>
          </a:xfrm>
          <a:prstGeom prst="rect">
            <a:avLst/>
          </a:prstGeom>
          <a:noFill/>
        </p:spPr>
        <p:txBody>
          <a:bodyPr wrap="square">
            <a:spAutoFit/>
          </a:bodyPr>
          <a:lstStyle/>
          <a:p>
            <a:pPr>
              <a:defRPr sz="1200" b="1">
                <a:solidFill>
                  <a:srgbClr val="4F46E5"/>
                </a:solidFill>
              </a:defRPr>
            </a:pPr>
            <a:r>
              <a:t>1. TEACHER PORTAL (/teacher) — Ms. Ananya Mehra</a:t>
            </a:r>
          </a:p>
          <a:p>
            <a:pPr>
              <a:spcAft>
                <a:spcPts val="1200"/>
              </a:spcAft>
              <a:defRPr sz="1100">
                <a:solidFill>
                  <a:srgbClr val="0F172A"/>
                </a:solidFill>
              </a:defRPr>
            </a:pPr>
            <a:r>
              <a:t>→ Radar highlights Aarav in top 3 attention list with 58% in Mathematics.</a:t>
            </a:r>
            <a:br/>
            <a:r>
              <a:t>→ AI Suggestion: "Run a 10-minute visual fraction strips review before Friday's exam."</a:t>
            </a:r>
          </a:p>
          <a:p>
            <a:pPr>
              <a:defRPr sz="1200" b="1">
                <a:solidFill>
                  <a:srgbClr val="0D9488"/>
                </a:solidFill>
              </a:defRPr>
            </a:pPr>
            <a:r>
              <a:t>2. STUDENT PORTAL (/student) — Aarav Sharma</a:t>
            </a:r>
          </a:p>
          <a:p>
            <a:pPr>
              <a:spcAft>
                <a:spcPts val="1200"/>
              </a:spcAft>
              <a:defRPr sz="1100">
                <a:solidFill>
                  <a:srgbClr val="0F172A"/>
                </a:solidFill>
              </a:defRPr>
            </a:pPr>
            <a:r>
              <a:t>→ Action Center displays priority: 🟠 Friday Test: Equivalent Fractions.</a:t>
            </a:r>
            <a:br/>
            <a:r>
              <a:t>→ AI Revision Notes: Explains pizza analogy, gives 3-question diagnostic quiz with instant feedback.</a:t>
            </a:r>
          </a:p>
          <a:p>
            <a:pPr>
              <a:defRPr sz="1200" b="1">
                <a:solidFill>
                  <a:srgbClr val="D97706"/>
                </a:solidFill>
              </a:defRPr>
            </a:pPr>
            <a:r>
              <a:t>3. PARENT PORTAL (/parent) — Sunita Sharma</a:t>
            </a:r>
          </a:p>
          <a:p>
            <a:pPr>
              <a:defRPr sz="1100">
                <a:solidFill>
                  <a:srgbClr val="0F172A"/>
                </a:solidFill>
              </a:defRPr>
            </a:pPr>
            <a:r>
              <a:t>→ Progress card clearly notes: "Mathematics needs a little attention this week (58%)."</a:t>
            </a:r>
            <a:br/>
            <a:r>
              <a:t>→ 5-Min Dinner Prompt: "Ask Aarav: Can you explain why 2/4 of a pizza is the same as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THE CONTINUOUS IMPROVEMENT CYCLE</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Data Becomes a Continuous Learning Loop</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Every assessment feeds back into the student's mastery trajectory.</a:t>
            </a:r>
          </a:p>
        </p:txBody>
      </p:sp>
      <p:sp>
        <p:nvSpPr>
          <p:cNvPr id="5" name="Rounded Rectangle 4"/>
          <p:cNvSpPr/>
          <p:nvPr/>
        </p:nvSpPr>
        <p:spPr>
          <a:xfrm>
            <a:off x="731520" y="2103120"/>
            <a:ext cx="33832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31720"/>
            <a:ext cx="3017520" cy="1371600"/>
          </a:xfrm>
          <a:prstGeom prst="rect">
            <a:avLst/>
          </a:prstGeom>
          <a:noFill/>
        </p:spPr>
        <p:txBody>
          <a:bodyPr wrap="square">
            <a:spAutoFit/>
          </a:bodyPr>
          <a:lstStyle/>
          <a:p>
            <a:pPr>
              <a:spcAft>
                <a:spcPts val="800"/>
              </a:spcAft>
              <a:defRPr sz="1300" b="1">
                <a:solidFill>
                  <a:srgbClr val="4F46E5"/>
                </a:solidFill>
              </a:defRPr>
            </a:pPr>
            <a:r>
              <a:t>1. OBSERVE</a:t>
            </a:r>
          </a:p>
          <a:p>
            <a:pPr>
              <a:defRPr sz="1100">
                <a:solidFill>
                  <a:srgbClr val="0F172A"/>
                </a:solidFill>
              </a:defRPr>
            </a:pPr>
            <a:r>
              <a:t>Teacher records test marks &amp; daily attendance.</a:t>
            </a:r>
          </a:p>
        </p:txBody>
      </p:sp>
      <p:sp>
        <p:nvSpPr>
          <p:cNvPr id="7" name="Rounded Rectangle 6"/>
          <p:cNvSpPr/>
          <p:nvPr/>
        </p:nvSpPr>
        <p:spPr>
          <a:xfrm>
            <a:off x="4343400" y="2103120"/>
            <a:ext cx="33832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331720"/>
            <a:ext cx="3017520" cy="1371600"/>
          </a:xfrm>
          <a:prstGeom prst="rect">
            <a:avLst/>
          </a:prstGeom>
          <a:noFill/>
        </p:spPr>
        <p:txBody>
          <a:bodyPr wrap="square">
            <a:spAutoFit/>
          </a:bodyPr>
          <a:lstStyle/>
          <a:p>
            <a:pPr>
              <a:spcAft>
                <a:spcPts val="800"/>
              </a:spcAft>
              <a:defRPr sz="1300" b="1">
                <a:solidFill>
                  <a:srgbClr val="0D9488"/>
                </a:solidFill>
              </a:defRPr>
            </a:pPr>
            <a:r>
              <a:t>2. UNDERSTAND</a:t>
            </a:r>
          </a:p>
          <a:p>
            <a:pPr>
              <a:defRPr sz="1100">
                <a:solidFill>
                  <a:srgbClr val="0F172A"/>
                </a:solidFill>
              </a:defRPr>
            </a:pPr>
            <a:r>
              <a:t>Rules engine identifies topic-level learning gap.</a:t>
            </a:r>
          </a:p>
        </p:txBody>
      </p:sp>
      <p:sp>
        <p:nvSpPr>
          <p:cNvPr id="9" name="Rounded Rectangle 8"/>
          <p:cNvSpPr/>
          <p:nvPr/>
        </p:nvSpPr>
        <p:spPr>
          <a:xfrm>
            <a:off x="7955280" y="2103120"/>
            <a:ext cx="33832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331720"/>
            <a:ext cx="3017520" cy="1371600"/>
          </a:xfrm>
          <a:prstGeom prst="rect">
            <a:avLst/>
          </a:prstGeom>
          <a:noFill/>
        </p:spPr>
        <p:txBody>
          <a:bodyPr wrap="square">
            <a:spAutoFit/>
          </a:bodyPr>
          <a:lstStyle/>
          <a:p>
            <a:pPr>
              <a:spcAft>
                <a:spcPts val="800"/>
              </a:spcAft>
              <a:defRPr sz="1300" b="1">
                <a:solidFill>
                  <a:srgbClr val="D97706"/>
                </a:solidFill>
              </a:defRPr>
            </a:pPr>
            <a:r>
              <a:t>3. ACT</a:t>
            </a:r>
          </a:p>
          <a:p>
            <a:pPr>
              <a:defRPr sz="1100">
                <a:solidFill>
                  <a:srgbClr val="0F172A"/>
                </a:solidFill>
              </a:defRPr>
            </a:pPr>
            <a:r>
              <a:t>Portal prioritizes Friday exam prep &amp; homework.</a:t>
            </a:r>
          </a:p>
        </p:txBody>
      </p:sp>
      <p:sp>
        <p:nvSpPr>
          <p:cNvPr id="11" name="Rounded Rectangle 10"/>
          <p:cNvSpPr/>
          <p:nvPr/>
        </p:nvSpPr>
        <p:spPr>
          <a:xfrm>
            <a:off x="731520" y="4114800"/>
            <a:ext cx="33832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43400"/>
            <a:ext cx="3017520" cy="1371600"/>
          </a:xfrm>
          <a:prstGeom prst="rect">
            <a:avLst/>
          </a:prstGeom>
          <a:noFill/>
        </p:spPr>
        <p:txBody>
          <a:bodyPr wrap="square">
            <a:spAutoFit/>
          </a:bodyPr>
          <a:lstStyle/>
          <a:p>
            <a:pPr>
              <a:spcAft>
                <a:spcPts val="800"/>
              </a:spcAft>
              <a:defRPr sz="1300" b="1">
                <a:solidFill>
                  <a:srgbClr val="4F46E5"/>
                </a:solidFill>
              </a:defRPr>
            </a:pPr>
            <a:r>
              <a:t>4. LEARN</a:t>
            </a:r>
          </a:p>
          <a:p>
            <a:pPr>
              <a:defRPr sz="1100">
                <a:solidFill>
                  <a:srgbClr val="0F172A"/>
                </a:solidFill>
              </a:defRPr>
            </a:pPr>
            <a:r>
              <a:t>NCERT revision note with interactive concept chips.</a:t>
            </a:r>
          </a:p>
        </p:txBody>
      </p:sp>
      <p:sp>
        <p:nvSpPr>
          <p:cNvPr id="13" name="Rounded Rectangle 12"/>
          <p:cNvSpPr/>
          <p:nvPr/>
        </p:nvSpPr>
        <p:spPr>
          <a:xfrm>
            <a:off x="4343400" y="4114800"/>
            <a:ext cx="33832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4343400"/>
            <a:ext cx="3017520" cy="1371600"/>
          </a:xfrm>
          <a:prstGeom prst="rect">
            <a:avLst/>
          </a:prstGeom>
          <a:noFill/>
        </p:spPr>
        <p:txBody>
          <a:bodyPr wrap="square">
            <a:spAutoFit/>
          </a:bodyPr>
          <a:lstStyle/>
          <a:p>
            <a:pPr>
              <a:spcAft>
                <a:spcPts val="800"/>
              </a:spcAft>
              <a:defRPr sz="1300" b="1">
                <a:solidFill>
                  <a:srgbClr val="10B981"/>
                </a:solidFill>
              </a:defRPr>
            </a:pPr>
            <a:r>
              <a:t>5. CHECK</a:t>
            </a:r>
          </a:p>
          <a:p>
            <a:pPr>
              <a:defRPr sz="1100">
                <a:solidFill>
                  <a:srgbClr val="0F172A"/>
                </a:solidFill>
              </a:defRPr>
            </a:pPr>
            <a:r>
              <a:t>3-Question diagnostic quiz evaluates mastery level.</a:t>
            </a:r>
          </a:p>
        </p:txBody>
      </p:sp>
      <p:sp>
        <p:nvSpPr>
          <p:cNvPr id="15" name="Rounded Rectangle 14"/>
          <p:cNvSpPr/>
          <p:nvPr/>
        </p:nvSpPr>
        <p:spPr>
          <a:xfrm>
            <a:off x="7955280" y="4114800"/>
            <a:ext cx="338328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343400"/>
            <a:ext cx="3017520" cy="1371600"/>
          </a:xfrm>
          <a:prstGeom prst="rect">
            <a:avLst/>
          </a:prstGeom>
          <a:noFill/>
        </p:spPr>
        <p:txBody>
          <a:bodyPr wrap="square">
            <a:spAutoFit/>
          </a:bodyPr>
          <a:lstStyle/>
          <a:p>
            <a:pPr>
              <a:spcAft>
                <a:spcPts val="800"/>
              </a:spcAft>
              <a:defRPr sz="1300" b="1">
                <a:solidFill>
                  <a:srgbClr val="4F46E5"/>
                </a:solidFill>
              </a:defRPr>
            </a:pPr>
            <a:r>
              <a:t>6. REINFORCE</a:t>
            </a:r>
          </a:p>
          <a:p>
            <a:pPr>
              <a:defRPr sz="1100">
                <a:solidFill>
                  <a:srgbClr val="0F172A"/>
                </a:solidFill>
              </a:defRPr>
            </a:pPr>
            <a:r>
              <a:t>Parent reinforces concept at home with guided prompt.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CONTEXTUAL INTELLIGENCE</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AI With Context. Not Just a Chatbot.</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AI is not the product — it is an intelligent contextual layer over authorized school facts.</a:t>
            </a:r>
          </a:p>
        </p:txBody>
      </p:sp>
      <p:sp>
        <p:nvSpPr>
          <p:cNvPr id="5" name="Rounded Rectangle 4"/>
          <p:cNvSpPr/>
          <p:nvPr/>
        </p:nvSpPr>
        <p:spPr>
          <a:xfrm>
            <a:off x="731520" y="2011680"/>
            <a:ext cx="106984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749039"/>
          </a:xfrm>
          <a:prstGeom prst="rect">
            <a:avLst/>
          </a:prstGeom>
          <a:noFill/>
        </p:spPr>
        <p:txBody>
          <a:bodyPr wrap="square">
            <a:spAutoFit/>
          </a:bodyPr>
          <a:lstStyle/>
          <a:p>
            <a:pPr>
              <a:spcAft>
                <a:spcPts val="800"/>
              </a:spcAft>
              <a:defRPr sz="1300" b="1">
                <a:solidFill>
                  <a:srgbClr val="4F46E5"/>
                </a:solidFill>
              </a:defRPr>
            </a:pPr>
            <a:r>
              <a:t>HOW OUR CONTEXT PIPELINE WORKS:</a:t>
            </a:r>
          </a:p>
          <a:p>
            <a:pPr>
              <a:spcAft>
                <a:spcPts val="1600"/>
              </a:spcAft>
              <a:defRPr sz="1100" b="1">
                <a:solidFill>
                  <a:srgbClr val="64748B"/>
                </a:solidFill>
              </a:defRPr>
            </a:pPr>
            <a:r>
              <a:t>Student Academic Gaps + Role Boundaries + NCERT Curriculum Benchmarks  →  Google Gemini API / Rule Fallbacks  →  Actionable Output</a:t>
            </a:r>
          </a:p>
          <a:p>
            <a:pPr>
              <a:defRPr sz="1200" b="1">
                <a:solidFill>
                  <a:srgbClr val="0F172A"/>
                </a:solidFill>
              </a:defRPr>
            </a:pPr>
            <a:r>
              <a:t>🎓 SchoolMitra (Student AI)</a:t>
            </a:r>
          </a:p>
          <a:p>
            <a:pPr>
              <a:spcAft>
                <a:spcPts val="1000"/>
              </a:spcAft>
              <a:defRPr sz="1100">
                <a:solidFill>
                  <a:srgbClr val="64748B"/>
                </a:solidFill>
              </a:defRPr>
            </a:pPr>
            <a:r>
              <a:t>Curriculum-grounded Socratic tutor that explains difficult NCERT concepts step-by-step without doing the homework for them.</a:t>
            </a:r>
          </a:p>
          <a:p>
            <a:pPr>
              <a:defRPr sz="1200" b="1">
                <a:solidFill>
                  <a:srgbClr val="0F172A"/>
                </a:solidFill>
              </a:defRPr>
            </a:pPr>
            <a:r>
              <a:t>👨‍🏫 Teacher Copilot</a:t>
            </a:r>
          </a:p>
          <a:p>
            <a:pPr>
              <a:spcAft>
                <a:spcPts val="1000"/>
              </a:spcAft>
              <a:defRPr sz="1100">
                <a:solidFill>
                  <a:srgbClr val="64748B"/>
                </a:solidFill>
              </a:defRPr>
            </a:pPr>
            <a:r>
              <a:t>Generates lesson plans, diagnostic review suggestions, and automated CBSE-standard report card remarks based on actual student evidence.</a:t>
            </a:r>
          </a:p>
          <a:p>
            <a:pPr>
              <a:defRPr sz="1200" b="1">
                <a:solidFill>
                  <a:srgbClr val="0F172A"/>
                </a:solidFill>
              </a:defRPr>
            </a:pPr>
            <a:r>
              <a:t>🏡 Parent AI Guide</a:t>
            </a:r>
          </a:p>
          <a:p>
            <a:pPr>
              <a:spcAft>
                <a:spcPts val="1000"/>
              </a:spcAft>
              <a:defRPr sz="1100">
                <a:solidFill>
                  <a:srgbClr val="64748B"/>
                </a:solidFill>
              </a:defRPr>
            </a:pPr>
            <a:r>
              <a:t>Answers parental questions in everyday language while strictly respecting student privacy and role boundaries.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DATA PROVENANCE</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Who Enters the Data? Data is Entered Once at the Source.</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No synthetic metrics, no duplicate student IDs, and no fake demo data.</a:t>
            </a:r>
          </a:p>
        </p:txBody>
      </p:sp>
      <p:sp>
        <p:nvSpPr>
          <p:cNvPr id="5" name="Rounded Rectangle 4"/>
          <p:cNvSpPr/>
          <p:nvPr/>
        </p:nvSpPr>
        <p:spPr>
          <a:xfrm>
            <a:off x="731520" y="2011680"/>
            <a:ext cx="10698480" cy="7132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21408"/>
            <a:ext cx="10332720" cy="548640"/>
          </a:xfrm>
          <a:prstGeom prst="rect">
            <a:avLst/>
          </a:prstGeom>
          <a:noFill/>
        </p:spPr>
        <p:txBody>
          <a:bodyPr wrap="square">
            <a:spAutoFit/>
          </a:bodyPr>
          <a:lstStyle/>
          <a:p>
            <a:pPr>
              <a:defRPr sz="1200" b="1">
                <a:solidFill>
                  <a:srgbClr val="4F46E5"/>
                </a:solidFill>
              </a:defRPr>
            </a:pPr>
            <a:r>
              <a:t>👨‍🏫 Teacher:  </a:t>
            </a:r>
            <a:r>
              <a:rPr sz="1100" b="0">
                <a:solidFill>
                  <a:srgbClr val="0F172A"/>
                </a:solidFill>
              </a:rPr>
              <a:t>Logs attendance, marks exam scores, assigns homework, and records classroom observations.</a:t>
            </a:r>
          </a:p>
        </p:txBody>
      </p:sp>
      <p:sp>
        <p:nvSpPr>
          <p:cNvPr id="7" name="Rounded Rectangle 6"/>
          <p:cNvSpPr/>
          <p:nvPr/>
        </p:nvSpPr>
        <p:spPr>
          <a:xfrm>
            <a:off x="731520" y="2834640"/>
            <a:ext cx="10698480" cy="7132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44368"/>
            <a:ext cx="10332720" cy="548640"/>
          </a:xfrm>
          <a:prstGeom prst="rect">
            <a:avLst/>
          </a:prstGeom>
          <a:noFill/>
        </p:spPr>
        <p:txBody>
          <a:bodyPr wrap="square">
            <a:spAutoFit/>
          </a:bodyPr>
          <a:lstStyle/>
          <a:p>
            <a:pPr>
              <a:defRPr sz="1200" b="1">
                <a:solidFill>
                  <a:srgbClr val="0F172A"/>
                </a:solidFill>
              </a:defRPr>
            </a:pPr>
            <a:r>
              <a:t>🏛️ Administrator:  </a:t>
            </a:r>
            <a:r>
              <a:rPr sz="1100" b="0">
                <a:solidFill>
                  <a:srgbClr val="0F172A"/>
                </a:solidFill>
              </a:rPr>
              <a:t>Maintains canonical student rosters, teacher profiles, class allocations, and fee records.</a:t>
            </a:r>
          </a:p>
        </p:txBody>
      </p:sp>
      <p:sp>
        <p:nvSpPr>
          <p:cNvPr id="9" name="Rounded Rectangle 8"/>
          <p:cNvSpPr/>
          <p:nvPr/>
        </p:nvSpPr>
        <p:spPr>
          <a:xfrm>
            <a:off x="731520" y="3657600"/>
            <a:ext cx="10698480" cy="7132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67328"/>
            <a:ext cx="10332720" cy="548640"/>
          </a:xfrm>
          <a:prstGeom prst="rect">
            <a:avLst/>
          </a:prstGeom>
          <a:noFill/>
        </p:spPr>
        <p:txBody>
          <a:bodyPr wrap="square">
            <a:spAutoFit/>
          </a:bodyPr>
          <a:lstStyle/>
          <a:p>
            <a:pPr>
              <a:defRPr sz="1200" b="1">
                <a:solidFill>
                  <a:srgbClr val="D97706"/>
                </a:solidFill>
              </a:defRPr>
            </a:pPr>
            <a:r>
              <a:t>🚌 Bus Driver:  </a:t>
            </a:r>
            <a:r>
              <a:rPr sz="1100" b="0">
                <a:solidFill>
                  <a:srgbClr val="0F172A"/>
                </a:solidFill>
              </a:rPr>
              <a:t>Broadcasts live hardware device GPS coordinates via native browser geolocation.</a:t>
            </a:r>
          </a:p>
        </p:txBody>
      </p:sp>
      <p:sp>
        <p:nvSpPr>
          <p:cNvPr id="11" name="Rounded Rectangle 10"/>
          <p:cNvSpPr/>
          <p:nvPr/>
        </p:nvSpPr>
        <p:spPr>
          <a:xfrm>
            <a:off x="731520" y="4480560"/>
            <a:ext cx="10698480" cy="7132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590288"/>
            <a:ext cx="10332720" cy="548640"/>
          </a:xfrm>
          <a:prstGeom prst="rect">
            <a:avLst/>
          </a:prstGeom>
          <a:noFill/>
        </p:spPr>
        <p:txBody>
          <a:bodyPr wrap="square">
            <a:spAutoFit/>
          </a:bodyPr>
          <a:lstStyle/>
          <a:p>
            <a:pPr>
              <a:defRPr sz="1200" b="1">
                <a:solidFill>
                  <a:srgbClr val="0D9488"/>
                </a:solidFill>
              </a:defRPr>
            </a:pPr>
            <a:r>
              <a:t>🎓 Student:  </a:t>
            </a:r>
            <a:r>
              <a:rPr sz="1100" b="0">
                <a:solidFill>
                  <a:srgbClr val="0F172A"/>
                </a:solidFill>
              </a:rPr>
              <a:t>Completes revision notes, takes diagnostic concept checks, and logs emotional check-ins.</a:t>
            </a:r>
          </a:p>
        </p:txBody>
      </p:sp>
      <p:sp>
        <p:nvSpPr>
          <p:cNvPr id="13" name="Rounded Rectangle 12"/>
          <p:cNvSpPr/>
          <p:nvPr/>
        </p:nvSpPr>
        <p:spPr>
          <a:xfrm>
            <a:off x="731520" y="5303520"/>
            <a:ext cx="10698480" cy="71323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13248"/>
            <a:ext cx="10332720" cy="548640"/>
          </a:xfrm>
          <a:prstGeom prst="rect">
            <a:avLst/>
          </a:prstGeom>
          <a:noFill/>
        </p:spPr>
        <p:txBody>
          <a:bodyPr wrap="square">
            <a:spAutoFit/>
          </a:bodyPr>
          <a:lstStyle/>
          <a:p>
            <a:pPr>
              <a:defRPr sz="1200" b="1">
                <a:solidFill>
                  <a:srgbClr val="10B981"/>
                </a:solidFill>
              </a:defRPr>
            </a:pPr>
            <a:r>
              <a:t>🏡 Parent:  </a:t>
            </a:r>
            <a:r>
              <a:rPr sz="1100" b="0">
                <a:solidFill>
                  <a:srgbClr val="0F172A"/>
                </a:solidFill>
              </a:rPr>
              <a:t>Requests digital gate passes and initiates direct teacher communications.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FUNCTIONAL IMPLEMENTATION</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What We Actually Built: 6 Operational Portals</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Everything shown is verified, tested, and running in production.</a:t>
            </a:r>
          </a:p>
        </p:txBody>
      </p:sp>
      <p:sp>
        <p:nvSpPr>
          <p:cNvPr id="5" name="Rounded Rectangle 4"/>
          <p:cNvSpPr/>
          <p:nvPr/>
        </p:nvSpPr>
        <p:spPr>
          <a:xfrm>
            <a:off x="731520" y="2011680"/>
            <a:ext cx="25603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94560"/>
            <a:ext cx="2286000" cy="3749039"/>
          </a:xfrm>
          <a:prstGeom prst="rect">
            <a:avLst/>
          </a:prstGeom>
          <a:noFill/>
        </p:spPr>
        <p:txBody>
          <a:bodyPr wrap="square">
            <a:spAutoFit/>
          </a:bodyPr>
          <a:lstStyle/>
          <a:p>
            <a:pPr>
              <a:spcAft>
                <a:spcPts val="1200"/>
              </a:spcAft>
              <a:defRPr sz="1200" b="1">
                <a:solidFill>
                  <a:srgbClr val="4F46E5"/>
                </a:solidFill>
              </a:defRPr>
            </a:pPr>
            <a:r>
              <a:t>🎓 LEARNING</a:t>
            </a:r>
          </a:p>
          <a:p>
            <a:pPr>
              <a:spcAft>
                <a:spcPts val="600"/>
              </a:spcAft>
              <a:defRPr sz="1000">
                <a:solidFill>
                  <a:srgbClr val="0F172A"/>
                </a:solidFill>
              </a:defRPr>
            </a:pPr>
            <a:r>
              <a:t>• Daily Priorities (Due Today / Tests)</a:t>
            </a:r>
          </a:p>
          <a:p>
            <a:pPr>
              <a:spcAft>
                <a:spcPts val="600"/>
              </a:spcAft>
              <a:defRPr sz="1000">
                <a:solidFill>
                  <a:srgbClr val="0F172A"/>
                </a:solidFill>
              </a:defRPr>
            </a:pPr>
            <a:r>
              <a:t>• AI Revision Notes + Concept Chips</a:t>
            </a:r>
          </a:p>
          <a:p>
            <a:pPr>
              <a:spcAft>
                <a:spcPts val="600"/>
              </a:spcAft>
              <a:defRPr sz="1000">
                <a:solidFill>
                  <a:srgbClr val="0F172A"/>
                </a:solidFill>
              </a:defRPr>
            </a:pPr>
            <a:r>
              <a:t>• 3-Question Diagnostic Quiz Loop</a:t>
            </a:r>
          </a:p>
          <a:p>
            <a:pPr>
              <a:spcAft>
                <a:spcPts val="600"/>
              </a:spcAft>
              <a:defRPr sz="1000">
                <a:solidFill>
                  <a:srgbClr val="0F172A"/>
                </a:solidFill>
              </a:defRPr>
            </a:pPr>
            <a:r>
              <a:t>• SchoolMitra NCERT Doubt Tutor</a:t>
            </a:r>
          </a:p>
        </p:txBody>
      </p:sp>
      <p:sp>
        <p:nvSpPr>
          <p:cNvPr id="7" name="Rounded Rectangle 6"/>
          <p:cNvSpPr/>
          <p:nvPr/>
        </p:nvSpPr>
        <p:spPr>
          <a:xfrm>
            <a:off x="3456432" y="2011680"/>
            <a:ext cx="25603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2194560"/>
            <a:ext cx="2286000" cy="3749039"/>
          </a:xfrm>
          <a:prstGeom prst="rect">
            <a:avLst/>
          </a:prstGeom>
          <a:noFill/>
        </p:spPr>
        <p:txBody>
          <a:bodyPr wrap="square">
            <a:spAutoFit/>
          </a:bodyPr>
          <a:lstStyle/>
          <a:p>
            <a:pPr>
              <a:spcAft>
                <a:spcPts val="1200"/>
              </a:spcAft>
              <a:defRPr sz="1200" b="1">
                <a:solidFill>
                  <a:srgbClr val="4F46E5"/>
                </a:solidFill>
              </a:defRPr>
            </a:pPr>
            <a:r>
              <a:t>👨‍🏫 TEACHING</a:t>
            </a:r>
          </a:p>
          <a:p>
            <a:pPr>
              <a:spcAft>
                <a:spcPts val="600"/>
              </a:spcAft>
              <a:defRPr sz="1000">
                <a:solidFill>
                  <a:srgbClr val="0F172A"/>
                </a:solidFill>
              </a:defRPr>
            </a:pPr>
            <a:r>
              <a:t>• 3-Student Attention Radar</a:t>
            </a:r>
          </a:p>
          <a:p>
            <a:pPr>
              <a:spcAft>
                <a:spcPts val="600"/>
              </a:spcAft>
              <a:defRPr sz="1000">
                <a:solidFill>
                  <a:srgbClr val="0F172A"/>
                </a:solidFill>
              </a:defRPr>
            </a:pPr>
            <a:r>
              <a:t>• Rapid 1-Tap Attendance Taker</a:t>
            </a:r>
          </a:p>
          <a:p>
            <a:pPr>
              <a:spcAft>
                <a:spcPts val="600"/>
              </a:spcAft>
              <a:defRPr sz="1000">
                <a:solidFill>
                  <a:srgbClr val="0F172A"/>
                </a:solidFill>
              </a:defRPr>
            </a:pPr>
            <a:r>
              <a:t>• Academic Marks Panel</a:t>
            </a:r>
          </a:p>
          <a:p>
            <a:pPr>
              <a:spcAft>
                <a:spcPts val="600"/>
              </a:spcAft>
              <a:defRPr sz="1000">
                <a:solidFill>
                  <a:srgbClr val="0F172A"/>
                </a:solidFill>
              </a:defRPr>
            </a:pPr>
            <a:r>
              <a:t>• CBSE Printable PDF Report Cards</a:t>
            </a:r>
          </a:p>
        </p:txBody>
      </p:sp>
      <p:sp>
        <p:nvSpPr>
          <p:cNvPr id="9" name="Rounded Rectangle 8"/>
          <p:cNvSpPr/>
          <p:nvPr/>
        </p:nvSpPr>
        <p:spPr>
          <a:xfrm>
            <a:off x="6181344" y="2011680"/>
            <a:ext cx="25603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2194560"/>
            <a:ext cx="2286000" cy="3749039"/>
          </a:xfrm>
          <a:prstGeom prst="rect">
            <a:avLst/>
          </a:prstGeom>
          <a:noFill/>
        </p:spPr>
        <p:txBody>
          <a:bodyPr wrap="square">
            <a:spAutoFit/>
          </a:bodyPr>
          <a:lstStyle/>
          <a:p>
            <a:pPr>
              <a:spcAft>
                <a:spcPts val="1200"/>
              </a:spcAft>
              <a:defRPr sz="1200" b="1">
                <a:solidFill>
                  <a:srgbClr val="4F46E5"/>
                </a:solidFill>
              </a:defRPr>
            </a:pPr>
            <a:r>
              <a:t>🏡 FAMILY</a:t>
            </a:r>
          </a:p>
          <a:p>
            <a:pPr>
              <a:spcAft>
                <a:spcPts val="600"/>
              </a:spcAft>
              <a:defRPr sz="1000">
                <a:solidFill>
                  <a:srgbClr val="0F172A"/>
                </a:solidFill>
              </a:defRPr>
            </a:pPr>
            <a:r>
              <a:t>• Academic Progress Snapshot</a:t>
            </a:r>
          </a:p>
          <a:p>
            <a:pPr>
              <a:spcAft>
                <a:spcPts val="600"/>
              </a:spcAft>
              <a:defRPr sz="1000">
                <a:solidFill>
                  <a:srgbClr val="0F172A"/>
                </a:solidFill>
              </a:defRPr>
            </a:pPr>
            <a:r>
              <a:t>• 5-Minute Dinner Action Prompts</a:t>
            </a:r>
          </a:p>
          <a:p>
            <a:pPr>
              <a:spcAft>
                <a:spcPts val="600"/>
              </a:spcAft>
              <a:defRPr sz="1000">
                <a:solidFill>
                  <a:srgbClr val="0F172A"/>
                </a:solidFill>
              </a:defRPr>
            </a:pPr>
            <a:r>
              <a:t>• Digital Gate Pass QR Generator</a:t>
            </a:r>
          </a:p>
          <a:p>
            <a:pPr>
              <a:spcAft>
                <a:spcPts val="600"/>
              </a:spcAft>
              <a:defRPr sz="1000">
                <a:solidFill>
                  <a:srgbClr val="0F172A"/>
                </a:solidFill>
              </a:defRPr>
            </a:pPr>
            <a:r>
              <a:t>• Teacher Direct Messaging Thread</a:t>
            </a:r>
          </a:p>
        </p:txBody>
      </p:sp>
      <p:sp>
        <p:nvSpPr>
          <p:cNvPr id="11" name="Rounded Rectangle 10"/>
          <p:cNvSpPr/>
          <p:nvPr/>
        </p:nvSpPr>
        <p:spPr>
          <a:xfrm>
            <a:off x="8906256" y="2011680"/>
            <a:ext cx="25603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2194560"/>
            <a:ext cx="2286000" cy="3749039"/>
          </a:xfrm>
          <a:prstGeom prst="rect">
            <a:avLst/>
          </a:prstGeom>
          <a:noFill/>
        </p:spPr>
        <p:txBody>
          <a:bodyPr wrap="square">
            <a:spAutoFit/>
          </a:bodyPr>
          <a:lstStyle/>
          <a:p>
            <a:pPr>
              <a:spcAft>
                <a:spcPts val="1200"/>
              </a:spcAft>
              <a:defRPr sz="1200" b="1">
                <a:solidFill>
                  <a:srgbClr val="4F46E5"/>
                </a:solidFill>
              </a:defRPr>
            </a:pPr>
            <a:r>
              <a:t>🚌 OPERATIONS</a:t>
            </a:r>
          </a:p>
          <a:p>
            <a:pPr>
              <a:spcAft>
                <a:spcPts val="600"/>
              </a:spcAft>
              <a:defRPr sz="1000">
                <a:solidFill>
                  <a:srgbClr val="0F172A"/>
                </a:solidFill>
              </a:defRPr>
            </a:pPr>
            <a:r>
              <a:t>• Driver Live GPS Console (watchPosition)</a:t>
            </a:r>
          </a:p>
          <a:p>
            <a:pPr>
              <a:spcAft>
                <a:spcPts val="600"/>
              </a:spcAft>
              <a:defRPr sz="1000">
                <a:solidFill>
                  <a:srgbClr val="0F172A"/>
                </a:solidFill>
              </a:defRPr>
            </a:pPr>
            <a:r>
              <a:t>• Leaflet OpenStreetMap Tracking</a:t>
            </a:r>
          </a:p>
          <a:p>
            <a:pPr>
              <a:spcAft>
                <a:spcPts val="600"/>
              </a:spcAft>
              <a:defRPr sz="1000">
                <a:solidFill>
                  <a:srgbClr val="0F172A"/>
                </a:solidFill>
              </a:defRPr>
            </a:pPr>
            <a:r>
              <a:t>• Gate Camera QR Scanner</a:t>
            </a:r>
          </a:p>
          <a:p>
            <a:pPr>
              <a:spcAft>
                <a:spcPts val="600"/>
              </a:spcAft>
              <a:defRPr sz="1000">
                <a:solidFill>
                  <a:srgbClr val="0F172A"/>
                </a:solidFill>
              </a:defRPr>
            </a:pPr>
            <a:r>
              <a:t>• Admin Master Registry CRUD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4389120"/>
          </a:xfrm>
          <a:prstGeom prst="rect">
            <a:avLst/>
          </a:prstGeom>
          <a:noFill/>
        </p:spPr>
        <p:txBody>
          <a:bodyPr wrap="square">
            <a:spAutoFit/>
          </a:bodyPr>
          <a:lstStyle/>
          <a:p>
            <a:pPr>
              <a:spcAft>
                <a:spcPts val="1400"/>
              </a:spcAft>
              <a:defRPr sz="1300" b="1">
                <a:solidFill>
                  <a:srgbClr val="818CF8"/>
                </a:solidFill>
              </a:defRPr>
            </a:pPr>
            <a:r>
              <a:t>LIVE MVP DEMONSTRATION</a:t>
            </a:r>
          </a:p>
          <a:p>
            <a:pPr>
              <a:spcAft>
                <a:spcPts val="2400"/>
              </a:spcAft>
              <a:defRPr sz="3200" b="1">
                <a:solidFill>
                  <a:srgbClr val="FFFFFF"/>
                </a:solidFill>
              </a:defRPr>
            </a:pPr>
            <a:r>
              <a:t>Let's Follow One Student: Aarav Sharma</a:t>
            </a:r>
          </a:p>
          <a:p>
            <a:pPr>
              <a:spcAft>
                <a:spcPts val="1000"/>
              </a:spcAft>
              <a:defRPr sz="1400">
                <a:solidFill>
                  <a:srgbClr val="E2E8F0"/>
                </a:solidFill>
              </a:defRPr>
            </a:pPr>
            <a:r>
              <a:t>1. Teacher Portal  →  Ms. Ananya sees Aarav highlighted with 58% in Equivalent Fractions.</a:t>
            </a:r>
          </a:p>
          <a:p>
            <a:pPr>
              <a:spcAft>
                <a:spcPts val="1000"/>
              </a:spcAft>
              <a:defRPr sz="1400">
                <a:solidFill>
                  <a:srgbClr val="E2E8F0"/>
                </a:solidFill>
              </a:defRPr>
            </a:pPr>
            <a:r>
              <a:t>2. Student Portal  →  Aarav opens Friday test prep and takes a 3-question diagnostic revision quiz.</a:t>
            </a:r>
          </a:p>
          <a:p>
            <a:pPr>
              <a:spcAft>
                <a:spcPts val="1000"/>
              </a:spcAft>
              <a:defRPr sz="1400">
                <a:solidFill>
                  <a:srgbClr val="E2E8F0"/>
                </a:solidFill>
              </a:defRPr>
            </a:pPr>
            <a:r>
              <a:t>3. Parent Portal   →  Sunita sees the same 58% and gets a 5-minute dinner question prompt.</a:t>
            </a:r>
          </a:p>
          <a:p>
            <a:pPr>
              <a:spcAft>
                <a:spcPts val="1000"/>
              </a:spcAft>
              <a:defRPr sz="1400">
                <a:solidFill>
                  <a:srgbClr val="E2E8F0"/>
                </a:solidFill>
              </a:defRPr>
            </a:pPr>
            <a:r>
              <a:t>4. Driver Portal   →  Driver Rajesh starts trip with real GPS; Parent watches bus move on live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CONNECTED SCHOOL OPERATIONS</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Real Hardware Device GPS Telemetry Pipeline</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True device geolocation streaming without simulated mock movement.</a:t>
            </a:r>
          </a:p>
        </p:txBody>
      </p:sp>
      <p:sp>
        <p:nvSpPr>
          <p:cNvPr id="5" name="Rounded Rectangle 4"/>
          <p:cNvSpPr/>
          <p:nvPr/>
        </p:nvSpPr>
        <p:spPr>
          <a:xfrm>
            <a:off x="731520" y="2011680"/>
            <a:ext cx="106984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749039"/>
          </a:xfrm>
          <a:prstGeom prst="rect">
            <a:avLst/>
          </a:prstGeom>
          <a:noFill/>
        </p:spPr>
        <p:txBody>
          <a:bodyPr wrap="square">
            <a:spAutoFit/>
          </a:bodyPr>
          <a:lstStyle/>
          <a:p>
            <a:pPr>
              <a:spcAft>
                <a:spcPts val="1600"/>
              </a:spcAft>
              <a:defRPr sz="1300" b="1">
                <a:solidFill>
                  <a:srgbClr val="4F46E5"/>
                </a:solidFill>
              </a:defRPr>
            </a:pPr>
            <a:r>
              <a:t>THE 4-STAGE TELEMETRY PIPELINE:</a:t>
            </a:r>
          </a:p>
          <a:p>
            <a:pPr>
              <a:defRPr sz="1200" b="1">
                <a:solidFill>
                  <a:srgbClr val="0F172A"/>
                </a:solidFill>
              </a:defRPr>
            </a:pPr>
            <a:r>
              <a:t>📱 1. Driver Browser GPS</a:t>
            </a:r>
          </a:p>
          <a:p>
            <a:pPr>
              <a:spcAft>
                <a:spcPts val="800"/>
              </a:spcAft>
              <a:defRPr sz="1100">
                <a:solidFill>
                  <a:srgbClr val="64748B"/>
                </a:solidFill>
              </a:defRPr>
            </a:pPr>
            <a:r>
              <a:t>Acquires real device coordinates via navigator.geolocation.watchPosition ({ enableHighAccuracy: true }).</a:t>
            </a:r>
          </a:p>
          <a:p>
            <a:pPr>
              <a:defRPr sz="1200" b="1">
                <a:solidFill>
                  <a:srgbClr val="0F172A"/>
                </a:solidFill>
              </a:defRPr>
            </a:pPr>
            <a:r>
              <a:t>🛡️ 2. Server Authorization</a:t>
            </a:r>
          </a:p>
          <a:p>
            <a:pPr>
              <a:spcAft>
                <a:spcPts val="800"/>
              </a:spcAft>
              <a:defRPr sz="1100">
                <a:solidFill>
                  <a:srgbClr val="64748B"/>
                </a:solidFill>
              </a:defRPr>
            </a:pPr>
            <a:r>
              <a:t>Server Action validates driver identity, updates canonical buses table, and records precision telemetry.</a:t>
            </a:r>
          </a:p>
          <a:p>
            <a:pPr>
              <a:defRPr sz="1200" b="1">
                <a:solidFill>
                  <a:srgbClr val="0F172A"/>
                </a:solidFill>
              </a:defRPr>
            </a:pPr>
            <a:r>
              <a:t>⚡ 3. Supabase Realtime</a:t>
            </a:r>
          </a:p>
          <a:p>
            <a:pPr>
              <a:spcAft>
                <a:spcPts val="800"/>
              </a:spcAft>
              <a:defRPr sz="1100">
                <a:solidFill>
                  <a:srgbClr val="64748B"/>
                </a:solidFill>
              </a:defRPr>
            </a:pPr>
            <a:r>
              <a:t>Broadcasts coordinates over school:sch-demo-001:bus:BUS-21 channel at 4-second intervals.</a:t>
            </a:r>
          </a:p>
          <a:p>
            <a:pPr>
              <a:defRPr sz="1200" b="1">
                <a:solidFill>
                  <a:srgbClr val="0F172A"/>
                </a:solidFill>
              </a:defRPr>
            </a:pPr>
            <a:r>
              <a:t>🗺️ 4. Parent Portal Map</a:t>
            </a:r>
          </a:p>
          <a:p>
            <a:pPr>
              <a:spcAft>
                <a:spcPts val="800"/>
              </a:spcAft>
              <a:defRPr sz="1100">
                <a:solidFill>
                  <a:srgbClr val="64748B"/>
                </a:solidFill>
              </a:defRPr>
            </a:pPr>
            <a:r>
              <a:t>Leaflet OpenStreetMap animates bus location marker with real freshness badge (e.g., "Updated 4s ago").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4114800"/>
          </a:xfrm>
          <a:prstGeom prst="rect">
            <a:avLst/>
          </a:prstGeom>
          <a:noFill/>
        </p:spPr>
        <p:txBody>
          <a:bodyPr wrap="square">
            <a:spAutoFit/>
          </a:bodyPr>
          <a:lstStyle/>
          <a:p>
            <a:pPr>
              <a:spcAft>
                <a:spcPts val="1600"/>
              </a:spcAft>
              <a:defRPr sz="1400" b="1">
                <a:solidFill>
                  <a:srgbClr val="818CF8"/>
                </a:solidFill>
              </a:defRPr>
            </a:pPr>
            <a:r>
              <a:t>SHIKSHASETU  •  SUMMARY</a:t>
            </a:r>
          </a:p>
          <a:p>
            <a:pPr>
              <a:spcAft>
                <a:spcPts val="2000"/>
              </a:spcAft>
              <a:defRPr sz="3600" b="1">
                <a:solidFill>
                  <a:srgbClr val="FFFFFF"/>
                </a:solidFill>
              </a:defRPr>
            </a:pPr>
            <a:r>
              <a:t>Don't Just Manage Your School.</a:t>
            </a:r>
            <a:br/>
            <a:r>
              <a:t>Understand Every Learner.</a:t>
            </a:r>
          </a:p>
          <a:p>
            <a:pPr>
              <a:defRPr sz="1600">
                <a:solidFill>
                  <a:srgbClr val="E2E8F0"/>
                </a:solidFill>
              </a:defRPr>
            </a:pPr>
            <a:r>
              <a:t>DATA  →  UNDERSTANDING  →  ACTION  →  OUTCOME</a:t>
            </a:r>
            <a:br/>
            <a:br/>
            <a:r>
              <a:t>Thank you. We welcome your 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APPENDIX: ARCHITECTURE</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Full-Stack System Architecture &amp; Technology Stack</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Production-ready enterprise Next.js and Supabase infrastructure.</a:t>
            </a:r>
          </a:p>
        </p:txBody>
      </p:sp>
      <p:sp>
        <p:nvSpPr>
          <p:cNvPr id="5" name="Rounded Rectangle 4"/>
          <p:cNvSpPr/>
          <p:nvPr/>
        </p:nvSpPr>
        <p:spPr>
          <a:xfrm>
            <a:off x="731520" y="2011680"/>
            <a:ext cx="106984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749039"/>
          </a:xfrm>
          <a:prstGeom prst="rect">
            <a:avLst/>
          </a:prstGeom>
          <a:noFill/>
        </p:spPr>
        <p:txBody>
          <a:bodyPr wrap="square">
            <a:spAutoFit/>
          </a:bodyPr>
          <a:lstStyle/>
          <a:p>
            <a:pPr>
              <a:defRPr sz="1200">
                <a:solidFill>
                  <a:srgbClr val="0F172A"/>
                </a:solidFill>
              </a:defRPr>
            </a:pPr>
            <a:r>
              <a:t>• Frontend Framework: Next.js 14 (App Router, React 18, TypeScript, Tailwind CSS, Framer Motion)</a:t>
            </a:r>
            <a:br/>
            <a:r>
              <a:t>• Database: Supabase PostgreSQL with 38 modular SQL migrations &amp; Row Level Security (RLS)</a:t>
            </a:r>
            <a:br/>
            <a:r>
              <a:t>• Authentication: Clerk Auth with idempotent server-side onboarding linking to canonical tables</a:t>
            </a:r>
            <a:br/>
            <a:r>
              <a:t>• Real-Time Protocol: Supabase Realtime (PostgreSQL WAL replication) + Socket.io fallback</a:t>
            </a:r>
            <a:br/>
            <a:r>
              <a:t>• Mapping &amp; Telemetry: Leaflet.js, OpenStreetMap, HTML5 Geolocation API (watchPosition)</a:t>
            </a:r>
            <a:br/>
            <a:r>
              <a:t>• Quality Assurance: Vitest (250 tests passed across 36 test files), Playwright E2E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320040"/>
          </a:xfrm>
          <a:prstGeom prst="rect">
            <a:avLst/>
          </a:prstGeom>
          <a:noFill/>
        </p:spPr>
        <p:txBody>
          <a:bodyPr wrap="square" lIns="0" tIns="0" rIns="0" bIns="0">
            <a:spAutoFit/>
          </a:bodyPr>
          <a:lstStyle/>
          <a:p>
            <a:pPr>
              <a:defRPr sz="1100" b="1">
                <a:solidFill>
                  <a:srgbClr val="4F46E5"/>
                </a:solidFill>
              </a:defRPr>
            </a:pPr>
            <a:r>
              <a:t>APPENDIX: SECURITY</a:t>
            </a:r>
          </a:p>
        </p:txBody>
      </p:sp>
      <p:sp>
        <p:nvSpPr>
          <p:cNvPr id="3" name="TextBox 2"/>
          <p:cNvSpPr txBox="1"/>
          <p:nvPr/>
        </p:nvSpPr>
        <p:spPr>
          <a:xfrm>
            <a:off x="731520" y="777240"/>
            <a:ext cx="10698480" cy="640080"/>
          </a:xfrm>
          <a:prstGeom prst="rect">
            <a:avLst/>
          </a:prstGeom>
          <a:noFill/>
        </p:spPr>
        <p:txBody>
          <a:bodyPr wrap="square" lIns="0" tIns="0" rIns="0" bIns="0">
            <a:spAutoFit/>
          </a:bodyPr>
          <a:lstStyle/>
          <a:p>
            <a:pPr>
              <a:defRPr sz="2200" b="1">
                <a:solidFill>
                  <a:srgbClr val="0F172A"/>
                </a:solidFill>
              </a:defRPr>
            </a:pPr>
            <a:r>
              <a:t>Multi-Tenant Isolation &amp; Row Level Security (RLS)</a:t>
            </a:r>
          </a:p>
        </p:txBody>
      </p:sp>
      <p:sp>
        <p:nvSpPr>
          <p:cNvPr id="4" name="TextBox 3"/>
          <p:cNvSpPr txBox="1"/>
          <p:nvPr/>
        </p:nvSpPr>
        <p:spPr>
          <a:xfrm>
            <a:off x="731520" y="1371600"/>
            <a:ext cx="10698480" cy="411480"/>
          </a:xfrm>
          <a:prstGeom prst="rect">
            <a:avLst/>
          </a:prstGeom>
          <a:noFill/>
        </p:spPr>
        <p:txBody>
          <a:bodyPr wrap="square" lIns="0" tIns="0" rIns="0" bIns="0">
            <a:spAutoFit/>
          </a:bodyPr>
          <a:lstStyle/>
          <a:p>
            <a:pPr>
              <a:defRPr sz="1300">
                <a:solidFill>
                  <a:srgbClr val="64748B"/>
                </a:solidFill>
              </a:defRPr>
            </a:pPr>
            <a:r>
              <a:t>Strict data boundary enforcement across school tenants.</a:t>
            </a:r>
          </a:p>
        </p:txBody>
      </p:sp>
      <p:sp>
        <p:nvSpPr>
          <p:cNvPr id="5" name="Rounded Rectangle 4"/>
          <p:cNvSpPr/>
          <p:nvPr/>
        </p:nvSpPr>
        <p:spPr>
          <a:xfrm>
            <a:off x="731520" y="2011680"/>
            <a:ext cx="106984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149840" cy="3749039"/>
          </a:xfrm>
          <a:prstGeom prst="rect">
            <a:avLst/>
          </a:prstGeom>
          <a:noFill/>
        </p:spPr>
        <p:txBody>
          <a:bodyPr wrap="square">
            <a:spAutoFit/>
          </a:bodyPr>
          <a:lstStyle/>
          <a:p>
            <a:pPr>
              <a:defRPr sz="1200">
                <a:solidFill>
                  <a:srgbClr val="0F172A"/>
                </a:solidFill>
              </a:defRPr>
            </a:pPr>
            <a:r>
              <a:t>• Tenant Scoping: Every table includes school_id partition with enforced RLS policies.</a:t>
            </a:r>
            <a:br/>
            <a:r>
              <a:t>• Guardian Boundaries: Parents can strictly query only students linked via guardian_access table.</a:t>
            </a:r>
            <a:br/>
            <a:r>
              <a:t>• Teacher Boundaries: Teachers access student records within their assigned grade/section.</a:t>
            </a:r>
            <a:br/>
            <a:r>
              <a:t>• Sensitive Notes Privacy: Teacher private notes and medical flags are masked from parent feeds.</a:t>
            </a:r>
            <a:br/>
            <a:r>
              <a:t>• Server Action Authorization: All mutations verify authenticated role context before execution.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